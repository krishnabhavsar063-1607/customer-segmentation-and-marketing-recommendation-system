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customXml" Target="../customXml/item3.xml"/><Relationship Id="rId21" Type="http://schemas.openxmlformats.org/officeDocument/2006/relationships/customXml" Target="../customXml/item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9A5AC-E9C1-43A1-BC89-1ED0FC314FD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F6BD6-788B-4237-85AB-869E0C64405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8005" y="2017639"/>
            <a:ext cx="9144000" cy="1133231"/>
          </a:xfrm>
        </p:spPr>
        <p:txBody>
          <a:bodyPr anchor="t">
            <a:normAutofit fontScale="9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Customer Segmentation using K-Means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kumimoji="0" lang="en-IN" sz="18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4353" y="3603748"/>
            <a:ext cx="7951305" cy="2445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/>
              <a:ea typeface="Cambria" panose="02040503050406030204"/>
              <a:cs typeface="+mn-cs"/>
            </a:endParaRPr>
          </a:p>
          <a:p>
            <a:r>
              <a:rPr lang="en-US" dirty="0">
                <a:latin typeface="Cambria" panose="02040503050406030204"/>
                <a:ea typeface="Cambria" panose="02040503050406030204"/>
              </a:rPr>
              <a:t>Prepared By: </a:t>
            </a:r>
            <a:endParaRPr lang="en-US" dirty="0">
              <a:latin typeface="Cambria" panose="02040503050406030204"/>
              <a:ea typeface="Cambria" panose="02040503050406030204"/>
            </a:endParaRPr>
          </a:p>
          <a:p>
            <a:r>
              <a:rPr lang="en-US" dirty="0">
                <a:latin typeface="Cambria" panose="02040503050406030204"/>
                <a:ea typeface="Cambria" panose="02040503050406030204"/>
              </a:rPr>
              <a:t>Krishna Bhavsar (12302120601035)</a:t>
            </a:r>
            <a:endParaRPr lang="en-US" dirty="0">
              <a:latin typeface="Cambria" panose="02040503050406030204"/>
              <a:ea typeface="Cambria" panose="02040503050406030204"/>
            </a:endParaRPr>
          </a:p>
          <a:p>
            <a:r>
              <a:rPr lang="en-US" dirty="0">
                <a:latin typeface="Cambria" panose="02040503050406030204"/>
                <a:ea typeface="Cambria" panose="02040503050406030204"/>
              </a:rPr>
              <a:t>Punit Kaka (12302120601051)</a:t>
            </a:r>
            <a:endParaRPr lang="en-US" dirty="0">
              <a:latin typeface="Cambria" panose="02040503050406030204"/>
              <a:ea typeface="Cambria" panose="02040503050406030204"/>
            </a:endParaRPr>
          </a:p>
          <a:p>
            <a:r>
              <a:rPr lang="en-US" dirty="0">
                <a:latin typeface="Cambria" panose="02040503050406030204"/>
                <a:ea typeface="Cambria" panose="02040503050406030204"/>
              </a:rPr>
              <a:t>Pratham Vyas (12302120601049)</a:t>
            </a:r>
            <a:endParaRPr lang="en-US" dirty="0">
              <a:latin typeface="Cambria" panose="02040503050406030204"/>
              <a:ea typeface="Cambria" panose="02040503050406030204"/>
            </a:endParaRPr>
          </a:p>
          <a:p>
            <a:endParaRPr lang="en-US" dirty="0">
              <a:latin typeface="Cambria" panose="02040503050406030204"/>
              <a:ea typeface="Cambria" panose="02040503050406030204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2154353" y="84424"/>
            <a:ext cx="7951305" cy="22111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Cambria" panose="02040503050406030204"/>
              <a:ea typeface="Cambria" panose="02040503050406030204"/>
            </a:endParaRPr>
          </a:p>
          <a:p>
            <a:r>
              <a:rPr lang="en-US" altLang="en-US" sz="2100" dirty="0">
                <a:latin typeface="Cambria" panose="02040503050406030204"/>
                <a:ea typeface="Cambria" panose="02040503050406030204"/>
              </a:rPr>
              <a:t>A.D. Patel Institute of Technology</a:t>
            </a:r>
            <a:endParaRPr lang="en-US" altLang="en-US" sz="2100" dirty="0">
              <a:latin typeface="Cambria" panose="02040503050406030204"/>
              <a:ea typeface="Cambria" panose="02040503050406030204"/>
            </a:endParaRPr>
          </a:p>
          <a:p>
            <a:r>
              <a:rPr lang="en-US" altLang="en-US" sz="2100" dirty="0"/>
              <a:t>The </a:t>
            </a:r>
            <a:r>
              <a:rPr lang="en-US" altLang="en-US" sz="2100" dirty="0" err="1"/>
              <a:t>Charutar</a:t>
            </a:r>
            <a:r>
              <a:rPr lang="en-US" altLang="en-US" sz="2100" dirty="0"/>
              <a:t> Vidya Mandal (CVM) University</a:t>
            </a:r>
            <a:endParaRPr lang="en-US" altLang="en-US" sz="2100" dirty="0"/>
          </a:p>
          <a:p>
            <a:r>
              <a:rPr lang="en-US" sz="2100" dirty="0">
                <a:latin typeface="Cambria" panose="02040503050406030204"/>
                <a:ea typeface="Cambria" panose="02040503050406030204"/>
              </a:rPr>
              <a:t>Data Science Project</a:t>
            </a:r>
            <a:endParaRPr lang="en-US" sz="2100" dirty="0">
              <a:latin typeface="Cambria" panose="02040503050406030204"/>
              <a:ea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mbria" panose="02040503050406030204"/>
              </a:rPr>
              <a:t>Index</a:t>
            </a:r>
            <a:endParaRPr>
              <a:latin typeface="Cambria" panose="02040503050406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480560"/>
          </a:xfrm>
        </p:spPr>
        <p:txBody>
          <a:bodyPr/>
          <a:lstStyle/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Introduction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Problem Statement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Dataset Description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Tools Used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K-Means Clustering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Choosing K: Elbow &amp; Silhouette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Customer Groups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Output: Cluster Chart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Marketing Strategies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Dashboard &amp; Predict a Customer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300"/>
              </a:spcAft>
              <a:buFont typeface="+mj-lt"/>
              <a:buAutoNum type="arabicPeriod"/>
            </a:pPr>
            <a:r>
              <a:rPr sz="2000" b="0" i="0">
                <a:solidFill>
                  <a:srgbClr val="222222"/>
                </a:solidFill>
                <a:latin typeface="Cambria" panose="02040503050406030204"/>
              </a:rPr>
              <a:t>Conclusion &amp; Future Scope</a:t>
            </a:r>
            <a:endParaRPr sz="2000" b="0" i="0">
              <a:solidFill>
                <a:srgbClr val="222222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/>
              </a:rPr>
              <a:t>Introduction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16380"/>
            <a:ext cx="5852160" cy="4341495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1900" b="0" i="0" dirty="0">
                <a:solidFill>
                  <a:srgbClr val="222222"/>
                </a:solidFill>
                <a:latin typeface="Cambria" panose="02040503050406030204"/>
              </a:rPr>
              <a:t>Customer segmentation means putting similar customers in the same group.</a:t>
            </a:r>
            <a:endParaRPr lang="en-US" sz="19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1900" b="0" i="0" dirty="0">
                <a:solidFill>
                  <a:srgbClr val="222222"/>
                </a:solidFill>
                <a:latin typeface="Cambria" panose="02040503050406030204"/>
              </a:rPr>
              <a:t>Each group can then get its own offer, instead of one offer for everyone.</a:t>
            </a:r>
            <a:endParaRPr lang="en-US" sz="19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1900" b="0" i="0" dirty="0">
                <a:solidFill>
                  <a:srgbClr val="222222"/>
                </a:solidFill>
                <a:latin typeface="Cambria" panose="02040503050406030204"/>
              </a:rPr>
              <a:t>K-Means is a simple method that sorts customers into K groups by how close they are to each other.</a:t>
            </a:r>
            <a:endParaRPr lang="en-US" sz="19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1900" b="0" i="0" dirty="0">
                <a:solidFill>
                  <a:srgbClr val="222222"/>
                </a:solidFill>
                <a:latin typeface="Cambria" panose="02040503050406030204"/>
              </a:rPr>
              <a:t>This project groups 1,000 customers using their Annual Income and Spending Score.</a:t>
            </a:r>
            <a:endParaRPr lang="en-US" sz="19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49440" y="4369981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Dashboard overview from our project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182370"/>
            <a:ext cx="6214110" cy="29984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/>
              </a:rPr>
              <a:t>Problem Statement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691640"/>
            <a:ext cx="10515600" cy="329184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Problem: </a:t>
            </a: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A shop has many customers, but sending the same offer to everyone wastes money and misses the best customers.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Objectives: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  <a:p>
            <a:pPr marL="68580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Group customers who behave alike.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68580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Give each group an easy name.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68580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Suggest the best offer for each group.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68580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Build a dashboard that anyone can use.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41248" y="502920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5029200"/>
            <a:ext cx="10113264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Our answer: </a:t>
            </a:r>
            <a:r>
              <a:rPr lang="en-US" sz="1800" b="0" i="0" dirty="0">
                <a:solidFill>
                  <a:srgbClr val="222222"/>
                </a:solidFill>
                <a:latin typeface="Cambria" panose="02040503050406030204"/>
              </a:rPr>
              <a:t>customer segmentation. We split customers into groups with K-Means, then treat each group differently.</a:t>
            </a:r>
            <a:endParaRPr lang="en-US" sz="18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41605"/>
            <a:ext cx="10515600" cy="1325563"/>
          </a:xfrm>
        </p:spPr>
        <p:txBody>
          <a:bodyPr/>
          <a:lstStyle/>
          <a:p>
            <a:r>
              <a:rPr lang="en-US" dirty="0">
                <a:latin typeface="Cambria" panose="02040503050406030204"/>
              </a:rPr>
              <a:t>Dataset Description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0613" y="822960"/>
            <a:ext cx="2404872" cy="145389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13" y="822960"/>
            <a:ext cx="24048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2E75B6"/>
                </a:solidFill>
                <a:latin typeface="Cambria" panose="02040503050406030204"/>
              </a:rPr>
              <a:t>1,000</a:t>
            </a:r>
            <a:endParaRPr lang="en-US" sz="3400" b="1" i="0" dirty="0">
              <a:solidFill>
                <a:srgbClr val="2E75B6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40613" y="1691767"/>
            <a:ext cx="2404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customers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84372" y="822960"/>
            <a:ext cx="2404872" cy="145389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51987" y="822960"/>
            <a:ext cx="24048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2E75B6"/>
                </a:solidFill>
                <a:latin typeface="Cambria" panose="02040503050406030204"/>
              </a:rPr>
              <a:t>₹64,610</a:t>
            </a:r>
            <a:endParaRPr lang="en-US" sz="3400" b="1" i="0" dirty="0">
              <a:solidFill>
                <a:srgbClr val="2E75B6"/>
              </a:solidFill>
              <a:latin typeface="Cambria" panose="02040503050406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47872" y="1714627"/>
            <a:ext cx="2404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average yearly income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62726" y="822960"/>
            <a:ext cx="2404872" cy="145389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5746" y="822960"/>
            <a:ext cx="24048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2E75B6"/>
                </a:solidFill>
                <a:latin typeface="Cambria" panose="02040503050406030204"/>
              </a:rPr>
              <a:t>53.4</a:t>
            </a:r>
            <a:endParaRPr lang="en-US" sz="3400" b="1" i="0" dirty="0">
              <a:solidFill>
                <a:srgbClr val="2E75B6"/>
              </a:solidFill>
              <a:latin typeface="Cambria" panose="02040503050406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4496" y="1700657"/>
            <a:ext cx="2404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average spending score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740139" y="815975"/>
            <a:ext cx="2404872" cy="145389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9054" y="822960"/>
            <a:ext cx="240487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2E75B6"/>
                </a:solidFill>
                <a:latin typeface="Cambria" panose="02040503050406030204"/>
              </a:rPr>
              <a:t>44.2 yrs</a:t>
            </a:r>
            <a:endParaRPr lang="en-US" sz="3400" b="1" i="0" dirty="0">
              <a:solidFill>
                <a:srgbClr val="2E75B6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49994" y="1732407"/>
            <a:ext cx="24048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average age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6553" y="2985643"/>
            <a:ext cx="6309360" cy="265176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53" y="3122930"/>
            <a:ext cx="598932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Data: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 customer CSV file with 1,000 rows. You can also upload your own file.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Columns: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Customer ID, Age, Annual Income (₹), Spending Score.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Spending Score: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 number from 1 to 100. Higher means the customer spends more.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Used for groups: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Annual Income and Spending Score. Other columns can be chosen in the dashboard.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Output: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every customer gets a group name and a cluster number.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50125" y="5926385"/>
            <a:ext cx="3904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Customer table in the dashboard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9720" y="2524125"/>
            <a:ext cx="5367020" cy="3113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/>
              </a:rPr>
              <a:t>Tools Used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691640"/>
            <a:ext cx="3300984" cy="200253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" y="1856232"/>
            <a:ext cx="521207" cy="521207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1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200" y="1856232"/>
            <a:ext cx="246888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Python</a:t>
            </a:r>
            <a:endParaRPr lang="en-US" sz="18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7552" y="2487168"/>
            <a:ext cx="300837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Main programming language for the whole project.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43984" y="1691640"/>
            <a:ext cx="3300984" cy="200253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0288" y="1856232"/>
            <a:ext cx="521207" cy="521207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2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02936" y="1856232"/>
            <a:ext cx="246888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Pandas</a:t>
            </a:r>
            <a:endParaRPr lang="en-US" sz="18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300837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Loads the customer file and works with the data table.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300984" cy="200253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93024" y="1856232"/>
            <a:ext cx="521207" cy="521207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3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05672" y="1856232"/>
            <a:ext cx="246888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Scikit-learn</a:t>
            </a:r>
            <a:endParaRPr lang="en-US" sz="18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3024" y="2487168"/>
            <a:ext cx="300837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Runs the K-Means model and the Silhouette score.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" y="3986783"/>
            <a:ext cx="3300984" cy="200253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4151375"/>
            <a:ext cx="521207" cy="521207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4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4151375"/>
            <a:ext cx="246888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Plotly</a:t>
            </a:r>
            <a:endParaRPr lang="en-US" sz="18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52" y="4782312"/>
            <a:ext cx="300837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Makes interactive charts. Hover to see details.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443984" y="3986783"/>
            <a:ext cx="3300984" cy="200253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90288" y="4151375"/>
            <a:ext cx="521207" cy="521207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5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02936" y="4151375"/>
            <a:ext cx="246888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Streamlit</a:t>
            </a:r>
            <a:endParaRPr lang="en-US" sz="18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90288" y="4782312"/>
            <a:ext cx="300837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Turns the Python code into a web dashboard.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046720" y="3986783"/>
            <a:ext cx="3300984" cy="2002536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3024" y="4151375"/>
            <a:ext cx="521207" cy="521207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6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05672" y="4151375"/>
            <a:ext cx="2468880" cy="5212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222222"/>
                </a:solidFill>
                <a:latin typeface="Cambria" panose="02040503050406030204"/>
              </a:rPr>
              <a:t>CSV file</a:t>
            </a:r>
            <a:endParaRPr lang="en-US" sz="1800" b="1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93024" y="4782312"/>
            <a:ext cx="3008376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Customer data goes in, the grouped result comes out for download.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/>
              </a:rPr>
              <a:t>K-Means Clustering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" y="169164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200" b="1" i="0" dirty="0">
                <a:solidFill>
                  <a:srgbClr val="222222"/>
                </a:solidFill>
                <a:latin typeface="Cambria" panose="02040503050406030204"/>
              </a:rPr>
              <a:t>How the algorithm works</a:t>
            </a:r>
            <a:endParaRPr lang="en-US" sz="2200" b="1" i="0" dirty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222222"/>
                </a:solidFill>
                <a:latin typeface="Cambria" panose="02040503050406030204"/>
              </a:rPr>
              <a:t>Pick K centre points to start.</a:t>
            </a:r>
            <a:endParaRPr lang="en-US" sz="18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222222"/>
                </a:solidFill>
                <a:latin typeface="Cambria" panose="02040503050406030204"/>
              </a:rPr>
              <a:t>Each customer joins the nearest centre.</a:t>
            </a:r>
            <a:endParaRPr lang="en-US" sz="18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222222"/>
                </a:solidFill>
                <a:latin typeface="Cambria" panose="02040503050406030204"/>
              </a:rPr>
              <a:t>Move each centre to the middle of its group.</a:t>
            </a:r>
            <a:endParaRPr lang="en-US" sz="18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457200" indent="-457200"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en-US" sz="1800" b="0" i="0" dirty="0">
                <a:solidFill>
                  <a:srgbClr val="222222"/>
                </a:solidFill>
                <a:latin typeface="Cambria" panose="02040503050406030204"/>
              </a:rPr>
              <a:t>Repeat steps 2 and 3 until nothing changes.</a:t>
            </a:r>
            <a:endParaRPr lang="en-US" sz="18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dirty="0">
                <a:solidFill>
                  <a:srgbClr val="404040"/>
                </a:solidFill>
                <a:latin typeface="Cambria" panose="02040503050406030204"/>
              </a:rPr>
              <a:t>Real-life example: sorting students into teams, where each student joins the team whose captain is nearest.</a:t>
            </a:r>
            <a:endParaRPr lang="en-US" sz="1500" b="0" i="1" dirty="0">
              <a:solidFill>
                <a:srgbClr val="404040"/>
              </a:solidFill>
              <a:latin typeface="Cambria" panose="02040503050406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55080" y="1691640"/>
            <a:ext cx="5001768" cy="338328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0" y="1783080"/>
            <a:ext cx="45720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b="1" i="0" dirty="0">
                <a:solidFill>
                  <a:srgbClr val="222222"/>
                </a:solidFill>
                <a:latin typeface="Cambria" panose="02040503050406030204"/>
              </a:rPr>
              <a:t>Our setup</a:t>
            </a:r>
            <a:endParaRPr lang="en-US" sz="2200" b="1" i="0" dirty="0">
              <a:solidFill>
                <a:srgbClr val="222222"/>
              </a:solidFill>
              <a:latin typeface="Cambria" panose="02040503050406030204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b="1" i="0" dirty="0">
                <a:solidFill>
                  <a:srgbClr val="222222"/>
                </a:solidFill>
                <a:latin typeface="Cambria" panose="02040503050406030204"/>
              </a:rPr>
              <a:t>Features: </a:t>
            </a:r>
            <a:r>
              <a:rPr lang="en-US" sz="1700" b="0" i="0" dirty="0">
                <a:solidFill>
                  <a:srgbClr val="222222"/>
                </a:solidFill>
                <a:latin typeface="Cambria" panose="02040503050406030204"/>
              </a:rPr>
              <a:t>Annual Income, Spending Score</a:t>
            </a:r>
            <a:endParaRPr lang="en-US" sz="17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b="1" i="0" dirty="0">
                <a:solidFill>
                  <a:srgbClr val="222222"/>
                </a:solidFill>
                <a:latin typeface="Cambria" panose="02040503050406030204"/>
              </a:rPr>
              <a:t>Tool: </a:t>
            </a:r>
            <a:r>
              <a:rPr lang="en-US" sz="1700" b="0" i="0" dirty="0">
                <a:solidFill>
                  <a:srgbClr val="222222"/>
                </a:solidFill>
                <a:latin typeface="Cambria" panose="02040503050406030204"/>
              </a:rPr>
              <a:t>K-Means from Scikit-learn</a:t>
            </a:r>
            <a:endParaRPr lang="en-US" sz="17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b="1" i="0" dirty="0">
                <a:solidFill>
                  <a:srgbClr val="222222"/>
                </a:solidFill>
                <a:latin typeface="Cambria" panose="02040503050406030204"/>
              </a:rPr>
              <a:t>Clusters (K): </a:t>
            </a:r>
            <a:r>
              <a:rPr lang="en-US" sz="1700" b="0" i="0" dirty="0">
                <a:solidFill>
                  <a:srgbClr val="222222"/>
                </a:solidFill>
                <a:latin typeface="Cambria" panose="02040503050406030204"/>
              </a:rPr>
              <a:t>chosen with a slider in the dashboard</a:t>
            </a:r>
            <a:endParaRPr lang="en-US" sz="17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b="1" i="0" dirty="0">
                <a:solidFill>
                  <a:srgbClr val="222222"/>
                </a:solidFill>
                <a:latin typeface="Cambria" panose="02040503050406030204"/>
              </a:rPr>
              <a:t>Checks: </a:t>
            </a:r>
            <a:r>
              <a:rPr lang="en-US" sz="1700" b="0" i="0" dirty="0">
                <a:solidFill>
                  <a:srgbClr val="222222"/>
                </a:solidFill>
                <a:latin typeface="Cambria" panose="02040503050406030204"/>
              </a:rPr>
              <a:t>Elbow method and Silhouette score</a:t>
            </a:r>
            <a:endParaRPr lang="en-US" sz="17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b="1" i="0" dirty="0">
                <a:solidFill>
                  <a:srgbClr val="222222"/>
                </a:solidFill>
                <a:latin typeface="Cambria" panose="02040503050406030204"/>
              </a:rPr>
              <a:t>Result: </a:t>
            </a:r>
            <a:r>
              <a:rPr lang="en-US" sz="1700" b="0" i="0" dirty="0">
                <a:solidFill>
                  <a:srgbClr val="222222"/>
                </a:solidFill>
                <a:latin typeface="Cambria" panose="02040503050406030204"/>
              </a:rPr>
              <a:t>5 named customer groups</a:t>
            </a:r>
            <a:endParaRPr lang="en-US" sz="17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53035"/>
            <a:ext cx="10515600" cy="1325563"/>
          </a:xfrm>
        </p:spPr>
        <p:txBody>
          <a:bodyPr/>
          <a:lstStyle/>
          <a:p>
            <a:r>
              <a:rPr lang="en-US" dirty="0">
                <a:latin typeface="Cambria" panose="02040503050406030204"/>
              </a:rPr>
              <a:t>Choosing K: Elbow &amp; Silhouette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8988" y="459740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Elbow chart: error falls as groups increase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73368" y="459740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Silhouette chart: how clear the groups are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41248" y="496570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4965700"/>
            <a:ext cx="10113264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Elbow: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more groups means less error, but after a point it helps very little. The bend (elbow) of the curve is a good K.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Silhouette: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 higher score means clearer groups. In our chart the score peaks at K = 6 (about 0.34).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sz="1500" b="1" i="0" dirty="0">
                <a:solidFill>
                  <a:srgbClr val="222222"/>
                </a:solidFill>
                <a:latin typeface="Cambria" panose="02040503050406030204"/>
              </a:rPr>
              <a:t>Easy scale: </a:t>
            </a: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close to 1 is very good, near 0 means groups overlap, below 0 means a wrong group.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916305"/>
            <a:ext cx="4255770" cy="36328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50" y="891540"/>
            <a:ext cx="425577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/>
              </a:rPr>
              <a:t>Customer Groups</a:t>
            </a:r>
            <a:endParaRPr lang="en-US" dirty="0">
              <a:latin typeface="Cambria" panose="0204050305040603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6916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651760"/>
                <a:gridCol w="1463040"/>
                <a:gridCol w="1463040"/>
                <a:gridCol w="420624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#</a:t>
                      </a:r>
                      <a:endParaRPr sz="15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Segment</a:t>
                      </a:r>
                      <a:endParaRPr sz="15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Income</a:t>
                      </a:r>
                      <a:endParaRPr sz="15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Spending</a:t>
                      </a:r>
                      <a:endParaRPr sz="15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mbria" panose="02040503050406030204"/>
                        </a:rPr>
                        <a:t>Who they are</a:t>
                      </a:r>
                      <a:endParaRPr sz="1500" b="1">
                        <a:solidFill>
                          <a:srgbClr val="FFFFFF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2E75B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1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VIP Customers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High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High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Best customers who love quality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2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Careful Spenders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High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Low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Check reviews before buying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3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Careless / Impulsive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Low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High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Buy quickly on offers and new items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4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Budget Seekers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Low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Low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Look for the lowest price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5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Standard Shoppers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Middle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Middle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Cambria" panose="02040503050406030204"/>
                        </a:rPr>
                        <a:t>Steady, regular buyers</a:t>
                      </a:r>
                      <a:endParaRPr sz="1500" b="0">
                        <a:solidFill>
                          <a:srgbClr val="222222"/>
                        </a:solidFill>
                        <a:latin typeface="Cambria" panose="02040503050406030204"/>
                      </a:endParaRPr>
                    </a:p>
                  </a:txBody>
                  <a:tcPr anchor="ctr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" y="4937760"/>
            <a:ext cx="10515600" cy="1143000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2415" y="4937760"/>
            <a:ext cx="1011326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222222"/>
                </a:solidFill>
                <a:latin typeface="Cambria" panose="02040503050406030204"/>
              </a:rPr>
              <a:t>Insight: </a:t>
            </a:r>
            <a:r>
              <a:rPr lang="en-US" sz="1700" b="0" i="0" dirty="0">
                <a:solidFill>
                  <a:srgbClr val="222222"/>
                </a:solidFill>
                <a:latin typeface="Cambria" panose="02040503050406030204"/>
              </a:rPr>
              <a:t>each group needs a different message. High spenders get VIP care, careful buyers need proof of value, and budget shoppers respond to discounts.</a:t>
            </a:r>
            <a:endParaRPr lang="en-US" sz="17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315" y="0"/>
            <a:ext cx="10515600" cy="1325563"/>
          </a:xfrm>
        </p:spPr>
        <p:txBody>
          <a:bodyPr/>
          <a:lstStyle/>
          <a:p>
            <a:r>
              <a:rPr lang="en-US" dirty="0">
                <a:latin typeface="Cambria" panose="02040503050406030204"/>
              </a:rPr>
              <a:t>Output: Cluster Chart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52360" y="1691640"/>
            <a:ext cx="3904487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222222"/>
                </a:solidFill>
                <a:latin typeface="Cambria" panose="02040503050406030204"/>
              </a:rPr>
              <a:t>Observations</a:t>
            </a:r>
            <a:endParaRPr lang="en-US" sz="2000" b="1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Each dot is one customer.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Dots close together belong to the same group.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The white stars mark the centre of each group.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Hover over a dot to see that customer’s details.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/>
              <a:buChar char="•"/>
            </a:pPr>
            <a:r>
              <a:rPr lang="en-US" sz="1500" b="0" i="0" dirty="0">
                <a:solidFill>
                  <a:srgbClr val="222222"/>
                </a:solidFill>
                <a:latin typeface="Cambria" panose="02040503050406030204"/>
              </a:rPr>
              <a:t>A new customer joins the group with the nearest centre.</a:t>
            </a:r>
            <a:endParaRPr lang="en-US" sz="15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7353" y="6081014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Customer clusters: Annual Income vs Spending Score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1122045"/>
            <a:ext cx="5709285" cy="48336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375" y="-127635"/>
            <a:ext cx="10515600" cy="1325563"/>
          </a:xfrm>
        </p:spPr>
        <p:txBody>
          <a:bodyPr/>
          <a:lstStyle/>
          <a:p>
            <a:r>
              <a:rPr lang="en-US" dirty="0">
                <a:latin typeface="Cambria" panose="02040503050406030204"/>
              </a:rPr>
              <a:t>Marketing Strategies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968" y="608063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Strategies page in the dashboard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9360" y="1691640"/>
            <a:ext cx="5047488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/>
              <a:buChar char="•"/>
            </a:pPr>
            <a:r>
              <a:rPr lang="en-US" sz="1600" b="1" i="0" dirty="0">
                <a:solidFill>
                  <a:srgbClr val="222222"/>
                </a:solidFill>
                <a:latin typeface="Cambria" panose="02040503050406030204"/>
              </a:rPr>
              <a:t>VIP Customers: </a:t>
            </a:r>
            <a:r>
              <a:rPr lang="en-US" sz="1600" b="0" i="0" dirty="0">
                <a:solidFill>
                  <a:srgbClr val="222222"/>
                </a:solidFill>
                <a:latin typeface="Cambria" panose="02040503050406030204"/>
              </a:rPr>
              <a:t>VIP club, early access to new products, special support.</a:t>
            </a:r>
            <a:endParaRPr lang="en-US" sz="16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/>
              <a:buChar char="•"/>
            </a:pPr>
            <a:r>
              <a:rPr lang="en-US" sz="1600" b="1" i="0" dirty="0">
                <a:solidFill>
                  <a:srgbClr val="222222"/>
                </a:solidFill>
                <a:latin typeface="Cambria" panose="02040503050406030204"/>
              </a:rPr>
              <a:t>Careful Spenders: </a:t>
            </a:r>
            <a:r>
              <a:rPr lang="en-US" sz="1600" b="0" i="0" dirty="0">
                <a:solidFill>
                  <a:srgbClr val="222222"/>
                </a:solidFill>
                <a:latin typeface="Cambria" panose="02040503050406030204"/>
              </a:rPr>
              <a:t>show reviews, warranties and value discounts.</a:t>
            </a:r>
            <a:endParaRPr lang="en-US" sz="16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/>
              <a:buChar char="•"/>
            </a:pPr>
            <a:r>
              <a:rPr lang="en-US" sz="1600" b="1" i="0" dirty="0">
                <a:solidFill>
                  <a:srgbClr val="222222"/>
                </a:solidFill>
                <a:latin typeface="Cambria" panose="02040503050406030204"/>
              </a:rPr>
              <a:t>Careless / Impulsive: </a:t>
            </a:r>
            <a:r>
              <a:rPr lang="en-US" sz="1600" b="0" i="0" dirty="0">
                <a:solidFill>
                  <a:srgbClr val="222222"/>
                </a:solidFill>
                <a:latin typeface="Cambria" panose="02040503050406030204"/>
              </a:rPr>
              <a:t>flash sales, countdown deals, trending items.</a:t>
            </a:r>
            <a:endParaRPr lang="en-US" sz="16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/>
              <a:buChar char="•"/>
            </a:pPr>
            <a:r>
              <a:rPr lang="en-US" sz="1600" b="1" i="0" dirty="0">
                <a:solidFill>
                  <a:srgbClr val="222222"/>
                </a:solidFill>
                <a:latin typeface="Cambria" panose="02040503050406030204"/>
              </a:rPr>
              <a:t>Budget Seekers: </a:t>
            </a:r>
            <a:r>
              <a:rPr lang="en-US" sz="1600" b="0" i="0" dirty="0">
                <a:solidFill>
                  <a:srgbClr val="222222"/>
                </a:solidFill>
                <a:latin typeface="Cambria" panose="02040503050406030204"/>
              </a:rPr>
              <a:t>low-price deals and discount coupons.</a:t>
            </a:r>
            <a:endParaRPr lang="en-US" sz="16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100"/>
              </a:spcAft>
              <a:buFont typeface="Arial" panose="020B0604020202020204"/>
              <a:buChar char="•"/>
            </a:pPr>
            <a:r>
              <a:rPr lang="en-US" sz="1600" b="1" i="0" dirty="0">
                <a:solidFill>
                  <a:srgbClr val="222222"/>
                </a:solidFill>
                <a:latin typeface="Cambria" panose="02040503050406030204"/>
              </a:rPr>
              <a:t>Standard Shoppers: </a:t>
            </a:r>
            <a:r>
              <a:rPr lang="en-US" sz="1600" b="0" i="0" dirty="0">
                <a:solidFill>
                  <a:srgbClr val="222222"/>
                </a:solidFill>
                <a:latin typeface="Cambria" panose="02040503050406030204"/>
              </a:rPr>
              <a:t>loyalty points and seasonal discount emails.</a:t>
            </a:r>
            <a:endParaRPr lang="en-US" sz="16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095" y="1198245"/>
            <a:ext cx="5784850" cy="46494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" y="-635"/>
            <a:ext cx="10515600" cy="1325563"/>
          </a:xfrm>
        </p:spPr>
        <p:txBody>
          <a:bodyPr/>
          <a:lstStyle/>
          <a:p>
            <a:r>
              <a:rPr lang="en-US" dirty="0">
                <a:latin typeface="Cambria" panose="02040503050406030204"/>
              </a:rPr>
              <a:t>Dashboard &amp; Predict a Customer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953" y="6030722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High income + high spending: VIP Customers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64503" y="5837047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95959"/>
                </a:solidFill>
                <a:latin typeface="Cambria" panose="02040503050406030204"/>
              </a:rPr>
              <a:t>Average income + spending: Standard Shoppers</a:t>
            </a:r>
            <a:endParaRPr lang="en-US" sz="1200" b="0" i="1" dirty="0">
              <a:solidFill>
                <a:srgbClr val="595959"/>
              </a:solidFill>
              <a:latin typeface="Cambria" panose="02040503050406030204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3970" y="1172845"/>
            <a:ext cx="5384800" cy="45116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279525"/>
            <a:ext cx="5499100" cy="4404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/>
              </a:rPr>
              <a:t>Conclusion &amp; Future Scope</a:t>
            </a:r>
            <a:endParaRPr lang="en-US" dirty="0">
              <a:latin typeface="Cambria" panose="02040503050406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1248" y="1691640"/>
            <a:ext cx="50292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0" dirty="0">
                <a:solidFill>
                  <a:srgbClr val="222222"/>
                </a:solidFill>
                <a:latin typeface="Cambria" panose="02040503050406030204"/>
              </a:rPr>
              <a:t>Conclusion</a:t>
            </a:r>
            <a:endParaRPr lang="en-US" sz="2400" b="1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K-Means grouped 1,000 customers into 5 easy-to-understand segments.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Elbow and Silhouette checks help pick a good K.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Each group gets its own marketing idea, which saves advertising money.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The dashboard is easy: sliders, charts, CSV upload and download.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55080" y="1691640"/>
            <a:ext cx="5001768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0" dirty="0">
                <a:solidFill>
                  <a:srgbClr val="222222"/>
                </a:solidFill>
                <a:latin typeface="Cambria" panose="02040503050406030204"/>
              </a:rPr>
              <a:t>Future Scope</a:t>
            </a:r>
            <a:endParaRPr lang="en-US" sz="2400" b="1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Add more features such as age.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Use real shop data.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Try other methods, for example DBSCAN.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  <a:p>
            <a:pPr marL="285750" indent="-285750">
              <a:spcBef>
                <a:spcPts val="0"/>
              </a:spcBef>
              <a:spcAft>
                <a:spcPts val="1400"/>
              </a:spcAft>
              <a:buFont typeface="Arial" panose="020B0604020202020204"/>
              <a:buChar char="•"/>
            </a:pPr>
            <a:r>
              <a:rPr lang="en-US" sz="2000" b="0" i="0" dirty="0">
                <a:solidFill>
                  <a:srgbClr val="222222"/>
                </a:solidFill>
                <a:latin typeface="Cambria" panose="02040503050406030204"/>
              </a:rPr>
              <a:t>Put the app online for everyone.</a:t>
            </a:r>
            <a:endParaRPr lang="en-US" sz="2000" b="0" i="0" dirty="0">
              <a:solidFill>
                <a:srgbClr val="222222"/>
              </a:solidFill>
              <a:latin typeface="Cambria" panose="02040503050406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5244"/>
          </a:xfrm>
        </p:spPr>
        <p:txBody>
          <a:bodyPr>
            <a:normAutofit/>
          </a:bodyPr>
          <a:lstStyle/>
          <a:p>
            <a:pPr algn="ctr"/>
            <a:r>
              <a:rPr lang="en-US" sz="8000" b="1" i="1" dirty="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en-IN" sz="8000" b="1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CD99B64834304B8B2FC074A6C6D16B" ma:contentTypeVersion="14" ma:contentTypeDescription="Create a new document." ma:contentTypeScope="" ma:versionID="e806ebc2de3175989a8b5755071031ae">
  <xsd:schema xmlns:xsd="http://www.w3.org/2001/XMLSchema" xmlns:xs="http://www.w3.org/2001/XMLSchema" xmlns:p="http://schemas.microsoft.com/office/2006/metadata/properties" xmlns:ns3="ddab863d-4cc3-4a7b-971b-b1570fbeb79e" xmlns:ns4="79d68886-3380-495d-8603-44371a71ec95" targetNamespace="http://schemas.microsoft.com/office/2006/metadata/properties" ma:root="true" ma:fieldsID="75d98b6cb32f0aaeaf28d139adeb3ac2" ns3:_="" ns4:_="">
    <xsd:import namespace="ddab863d-4cc3-4a7b-971b-b1570fbeb79e"/>
    <xsd:import namespace="79d68886-3380-495d-8603-44371a71ec9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ab863d-4cc3-4a7b-971b-b1570fbeb7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68886-3380-495d-8603-44371a71ec95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6FDAED-0450-428F-9201-9A623A5F5A9D}">
  <ds:schemaRefs/>
</ds:datastoreItem>
</file>

<file path=customXml/itemProps2.xml><?xml version="1.0" encoding="utf-8"?>
<ds:datastoreItem xmlns:ds="http://schemas.openxmlformats.org/officeDocument/2006/customXml" ds:itemID="{C606B031-D34F-4578-A882-88E3340053C2}">
  <ds:schemaRefs/>
</ds:datastoreItem>
</file>

<file path=customXml/itemProps3.xml><?xml version="1.0" encoding="utf-8"?>
<ds:datastoreItem xmlns:ds="http://schemas.openxmlformats.org/officeDocument/2006/customXml" ds:itemID="{7CCEF6FB-40F5-4A60-926B-010A77373AD6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4717</Words>
  <Application>WPS Presentation</Application>
  <PresentationFormat>Widescreen</PresentationFormat>
  <Paragraphs>243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Calibri</vt:lpstr>
      <vt:lpstr>Cambria</vt:lpstr>
      <vt:lpstr>Arial</vt:lpstr>
      <vt:lpstr>Microsoft YaHei</vt:lpstr>
      <vt:lpstr>Arial Unicode MS</vt:lpstr>
      <vt:lpstr>Calibri Light</vt:lpstr>
      <vt:lpstr>Calibri</vt:lpstr>
      <vt:lpstr>Office Theme</vt:lpstr>
      <vt:lpstr>Customer Segmentation using K-Means  </vt:lpstr>
      <vt:lpstr>Index</vt:lpstr>
      <vt:lpstr>Introduction</vt:lpstr>
      <vt:lpstr>Problem Statement</vt:lpstr>
      <vt:lpstr>Dataset Description</vt:lpstr>
      <vt:lpstr>Tools Used</vt:lpstr>
      <vt:lpstr>K-Means Clustering</vt:lpstr>
      <vt:lpstr>Choosing K: Elbow &amp; Silhouette</vt:lpstr>
      <vt:lpstr>Customer Groups</vt:lpstr>
      <vt:lpstr>Output: Cluster Chart</vt:lpstr>
      <vt:lpstr>Marketing Strategies</vt:lpstr>
      <vt:lpstr>Dashboard &amp; Predict a Customer</vt:lpstr>
      <vt:lpstr>Conclusion &amp; Future Scope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</dc:title>
  <dc:creator>Web Admin</dc:creator>
  <cp:lastModifiedBy>KRISHNA</cp:lastModifiedBy>
  <cp:revision>70</cp:revision>
  <dcterms:created xsi:type="dcterms:W3CDTF">2022-12-01T06:39:00Z</dcterms:created>
  <dcterms:modified xsi:type="dcterms:W3CDTF">2026-10-21T18:58:42Z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0x01010041CD99B64834304B8B2FC074A6C6D16B</vt:lpwstr>
  </property>
  <property fmtid="{D5CDD505-2E9C-101B-9397-08002B2CF9AE}" pid="3" name="KSOProductBuildVer">
    <vt:lpwstr>1033-12.1.0.29162</vt:lpwstr>
  </property>
  <property fmtid="{D5CDD505-2E9C-101B-9397-08002B2CF9AE}" pid="4" name="ICV">
    <vt:lpwstr>3C0ADC631C664658AB148C57ADF9E070_13</vt:lpwstr>
  </property>
</Properties>
</file>